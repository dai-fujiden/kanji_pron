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51" r:id="rId1"/>
  </p:sldMasterIdLst>
  <p:notesMasterIdLst>
    <p:notesMasterId r:id="rId11"/>
  </p:notesMasterIdLst>
  <p:sldIdLst>
    <p:sldId id="256" r:id="rId2"/>
    <p:sldId id="257" r:id="rId3"/>
    <p:sldId id="258" r:id="rId4"/>
    <p:sldId id="261" r:id="rId5"/>
    <p:sldId id="260" r:id="rId6"/>
    <p:sldId id="259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60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AB2702-FBCC-49D3-A33E-BFE3E2717430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23DD3-6212-4F6F-B438-E0DA54A725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3975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9107C4-B011-0BBD-256F-422ADB347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4FCA540-01F3-1C39-C4D4-9FF77F914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55D638-34B6-DDCE-2D25-389729F56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A026-2FDB-4B9E-AEAD-E37FC656CBFA}" type="datetime1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A722E0-1064-9237-1712-64944C328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D802AC-C87B-577F-855E-F58BFFD3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8B6A-EB61-45CF-8D78-E3FC41B043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2415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F39B47-77CD-2755-5D79-4D126809FF77}"/>
              </a:ext>
            </a:extLst>
          </p:cNvPr>
          <p:cNvSpPr txBox="1">
            <a:spLocks/>
          </p:cNvSpPr>
          <p:nvPr userDrawn="1"/>
        </p:nvSpPr>
        <p:spPr>
          <a:xfrm>
            <a:off x="9207759" y="341491"/>
            <a:ext cx="274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4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761C3FB-119F-403C-84CE-02AFEAB9B5F5}" type="slidenum">
              <a:rPr lang="ja-JP" altLang="en-US" smtClean="0"/>
              <a:pPr/>
              <a:t>‹#›</a:t>
            </a:fld>
            <a:r>
              <a:rPr lang="en-US" altLang="ja-JP" dirty="0"/>
              <a:t>/10</a:t>
            </a:r>
            <a:endParaRPr lang="ja-JP" alt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BAAA7F5-A47C-64A1-808A-881713D43B7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2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タイトル 9">
            <a:extLst>
              <a:ext uri="{FF2B5EF4-FFF2-40B4-BE49-F238E27FC236}">
                <a16:creationId xmlns:a16="http://schemas.microsoft.com/office/drawing/2014/main" id="{31985EE3-0F95-34B4-C662-C656BCE147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82" y="-142407"/>
            <a:ext cx="10515600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ja-JP" dirty="0" err="1"/>
              <a:t>titel</a:t>
            </a:r>
            <a:endParaRPr kumimoji="1"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2813702-F10C-FFB6-90D1-77004B0E5B07}"/>
              </a:ext>
            </a:extLst>
          </p:cNvPr>
          <p:cNvSpPr/>
          <p:nvPr userDrawn="1"/>
        </p:nvSpPr>
        <p:spPr>
          <a:xfrm>
            <a:off x="0" y="793102"/>
            <a:ext cx="12192000" cy="60648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62CA499B-3C33-60B6-7D57-2A4C063C6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82" y="1048106"/>
            <a:ext cx="11555836" cy="5539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0435247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896DCC8-08B7-D58D-7DA7-3DF54EA79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FA48E8B-9BF0-04FC-0051-8F0328882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0165A3-ED40-A968-ABED-F88861CCF6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D774B-6F28-4070-BB1E-F989F592D0EB}" type="datetime1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D2DECA-0CE7-33F6-19FD-43FA3F6927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895A31-667B-482C-B63E-D391AB04F5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28B6A-EB61-45CF-8D78-E3FC41B043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2049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sia-archive.si.edu/learn/for-educators/teaching-china-with-the-smithsonian/lesson-plans/tea-culture-in-china/" TargetMode="External"/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https://www.people.com.cn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jk-daily.co.kr/news/articleView.html?idxno=40639" TargetMode="External"/><Relationship Id="rId5" Type="http://schemas.openxmlformats.org/officeDocument/2006/relationships/hyperlink" Target="https://www.sankei.com/article/20260626-ET3LTBEWGBGWVJKRKJU24T6JWI/" TargetMode="Externa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hyperlink" Target="https://xy.people.cn/user/login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hyperlink" Target="https://www.wiktionary.org/" TargetMode="External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github.com/dai-fujiden/KANJI_PRON.gi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hyperlink" Target="https://github.com/dai-fujiden/KANJI_PRO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icode.org/Public/17.0.0/ucd/Unihan.zip" TargetMode="External"/><Relationship Id="rId2" Type="http://schemas.openxmlformats.org/officeDocument/2006/relationships/hyperlink" Target="https://www.unicode.org/Public/UCD/latest/ucd/Unihan.zi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unicode.org/reports/tr38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568299-A962-40C6-3F0F-6675685C0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63690" y="1013619"/>
            <a:ext cx="9144000" cy="2387600"/>
          </a:xfrm>
        </p:spPr>
        <p:txBody>
          <a:bodyPr>
            <a:normAutofit/>
          </a:bodyPr>
          <a:lstStyle/>
          <a:p>
            <a:r>
              <a:rPr kumimoji="1" lang="en-US" altLang="ja-JP" sz="7000" b="1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Arial" panose="020B0604020202020204" pitchFamily="34" charset="0"/>
              </a:rPr>
              <a:t>Kanji reader</a:t>
            </a:r>
            <a:endParaRPr kumimoji="1" lang="ja-JP" altLang="en-US" sz="7000" b="1" dirty="0">
              <a:latin typeface="BIZ UDP明朝 Medium" panose="02020500000000000000" pitchFamily="18" charset="-128"/>
              <a:ea typeface="BIZ UDP明朝 Medium" panose="02020500000000000000" pitchFamily="18" charset="-128"/>
              <a:cs typeface="Arial" panose="020B0604020202020204" pitchFamily="34" charset="0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DCDB384-F51E-0494-B6D2-B6333A5EB8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39288" y="3401219"/>
            <a:ext cx="9144000" cy="1655762"/>
          </a:xfrm>
        </p:spPr>
        <p:txBody>
          <a:bodyPr/>
          <a:lstStyle/>
          <a:p>
            <a:r>
              <a:rPr lang="ja-JP" altLang="ja-JP" b="1" dirty="0"/>
              <a:t>A Cross-Linguistic Phonetic Extension </a:t>
            </a:r>
            <a:br>
              <a:rPr lang="en-US" altLang="ja-JP" sz="2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ja-JP" sz="2200" b="1" dirty="0">
                <a:latin typeface="Arial" panose="020B0604020202020204" pitchFamily="34" charset="0"/>
                <a:cs typeface="Arial" panose="020B0604020202020204" pitchFamily="34" charset="0"/>
              </a:rPr>
              <a:t>to master the Chinese characters</a:t>
            </a:r>
            <a:endParaRPr kumimoji="1" lang="en-US" altLang="ja-JP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ja-JP" b="1" dirty="0">
                <a:latin typeface="Arial" panose="020B0604020202020204" pitchFamily="34" charset="0"/>
                <a:cs typeface="Arial" panose="020B0604020202020204" pitchFamily="34" charset="0"/>
              </a:rPr>
              <a:t>2026/ 06/26</a:t>
            </a:r>
            <a:endParaRPr kumimoji="1" lang="ja-JP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8810434F-41BD-23F4-29B2-7E81A453CD2B}"/>
              </a:ext>
            </a:extLst>
          </p:cNvPr>
          <p:cNvGrpSpPr/>
          <p:nvPr/>
        </p:nvGrpSpPr>
        <p:grpSpPr>
          <a:xfrm>
            <a:off x="4907902" y="0"/>
            <a:ext cx="8537510" cy="6858000"/>
            <a:chOff x="3545633" y="0"/>
            <a:chExt cx="8537510" cy="6858000"/>
          </a:xfrm>
          <a:blipFill>
            <a:blip r:embed="rId2">
              <a:alphaModFix amt="48000"/>
            </a:blip>
            <a:stretch>
              <a:fillRect/>
            </a:stretch>
          </a:blipFill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1D6087C2-CFB6-5D91-FAC6-2BE8D709767B}"/>
                </a:ext>
              </a:extLst>
            </p:cNvPr>
            <p:cNvSpPr/>
            <p:nvPr/>
          </p:nvSpPr>
          <p:spPr>
            <a:xfrm>
              <a:off x="6718041" y="0"/>
              <a:ext cx="5365102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二等辺三角形 6">
              <a:extLst>
                <a:ext uri="{FF2B5EF4-FFF2-40B4-BE49-F238E27FC236}">
                  <a16:creationId xmlns:a16="http://schemas.microsoft.com/office/drawing/2014/main" id="{5FF704A4-2A89-F700-4CE2-0DFFB5CFE323}"/>
                </a:ext>
              </a:extLst>
            </p:cNvPr>
            <p:cNvSpPr/>
            <p:nvPr/>
          </p:nvSpPr>
          <p:spPr>
            <a:xfrm>
              <a:off x="3545633" y="0"/>
              <a:ext cx="3172408" cy="6858000"/>
            </a:xfrm>
            <a:prstGeom prst="triangle">
              <a:avLst>
                <a:gd name="adj" fmla="val 10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200BC19-D811-5A7E-18C7-E3C48672A601}"/>
              </a:ext>
            </a:extLst>
          </p:cNvPr>
          <p:cNvSpPr txBox="1"/>
          <p:nvPr/>
        </p:nvSpPr>
        <p:spPr>
          <a:xfrm>
            <a:off x="5355770" y="6200041"/>
            <a:ext cx="67180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Arial" panose="020B0604020202020204" pitchFamily="34" charset="0"/>
                <a:cs typeface="Arial" panose="020B0604020202020204" pitchFamily="34" charset="0"/>
              </a:rPr>
              <a:t>Citation : </a:t>
            </a:r>
            <a:r>
              <a:rPr kumimoji="1" lang="en-US" altLang="ja-JP" sz="1200" dirty="0" err="1">
                <a:latin typeface="Arial" panose="020B0604020202020204" pitchFamily="34" charset="0"/>
                <a:cs typeface="Arial" panose="020B0604020202020204" pitchFamily="34" charset="0"/>
              </a:rPr>
              <a:t>Smithonian</a:t>
            </a:r>
            <a:endParaRPr kumimoji="1" lang="en-US" altLang="ja-JP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ja-JP" sz="1200" dirty="0">
                <a:latin typeface="Arial" panose="020B0604020202020204" pitchFamily="34" charset="0"/>
                <a:cs typeface="Arial" panose="020B0604020202020204" pitchFamily="34" charset="0"/>
              </a:rPr>
              <a:t>NATIONAL </a:t>
            </a:r>
            <a:r>
              <a:rPr lang="en-US" altLang="ja-JP" sz="1200" b="1" dirty="0">
                <a:latin typeface="Arial" panose="020B0604020202020204" pitchFamily="34" charset="0"/>
                <a:cs typeface="Arial" panose="020B0604020202020204" pitchFamily="34" charset="0"/>
              </a:rPr>
              <a:t>MUSEUM OF ASIAN ART</a:t>
            </a:r>
            <a:r>
              <a:rPr lang="en-US" altLang="ja-JP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12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https://asia-archive.si.edu/learn/for-educators/teaching-china-with-the-smithsonian/lesson-plans/tea-culture-in-china/</a:t>
            </a:r>
            <a:endParaRPr lang="en-US" altLang="ja-JP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871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図 35">
            <a:extLst>
              <a:ext uri="{FF2B5EF4-FFF2-40B4-BE49-F238E27FC236}">
                <a16:creationId xmlns:a16="http://schemas.microsoft.com/office/drawing/2014/main" id="{A94F6080-651C-B7E4-1A99-AB3A476A7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83" y="4508219"/>
            <a:ext cx="4648849" cy="4420217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9ED6AF3A-7D78-6D5A-F128-C5663D2C2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7359" y="4599992"/>
            <a:ext cx="4256959" cy="182059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ADBB0649-B700-83F6-F914-1A131B221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82" y="-179730"/>
            <a:ext cx="10515600" cy="1325563"/>
          </a:xfrm>
        </p:spPr>
        <p:txBody>
          <a:bodyPr/>
          <a:lstStyle/>
          <a:p>
            <a:r>
              <a:rPr lang="ja-JP" altLang="ja-JP" b="1" dirty="0"/>
              <a:t>Necessity &amp;</a:t>
            </a:r>
            <a:r>
              <a:rPr lang="en-US" altLang="ja-JP" b="1" dirty="0"/>
              <a:t> Objective</a:t>
            </a:r>
            <a:endParaRPr kumimoji="1" lang="ja-JP" altLang="en-US" dirty="0"/>
          </a:p>
        </p:txBody>
      </p:sp>
      <p:sp>
        <p:nvSpPr>
          <p:cNvPr id="3" name=" 2">
            <a:extLst>
              <a:ext uri="{FF2B5EF4-FFF2-40B4-BE49-F238E27FC236}">
                <a16:creationId xmlns:a16="http://schemas.microsoft.com/office/drawing/2014/main" id="{34A41367-1BB1-1369-BAFF-0D168F3FB7E1}"/>
              </a:ext>
            </a:extLst>
          </p:cNvPr>
          <p:cNvSpPr>
            <a:spLocks noGrp="1"/>
          </p:cNvSpPr>
          <p:nvPr>
            <p:ph idx="1"/>
          </p:nvPr>
        </p:nvSpPr>
        <p:spPr/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EC07D19-24DB-B2F5-4E38-66A969799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4088" y="4599992"/>
            <a:ext cx="4500535" cy="207455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7127D8F-50A5-D505-456A-17960025DF9C}"/>
              </a:ext>
            </a:extLst>
          </p:cNvPr>
          <p:cNvSpPr txBox="1"/>
          <p:nvPr/>
        </p:nvSpPr>
        <p:spPr>
          <a:xfrm>
            <a:off x="7654088" y="4397746"/>
            <a:ext cx="1002648" cy="369332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latin typeface="Arial" panose="020B0604020202020204" pitchFamily="34" charset="0"/>
                <a:cs typeface="Arial" panose="020B0604020202020204" pitchFamily="34" charset="0"/>
              </a:rPr>
              <a:t>Korean</a:t>
            </a:r>
            <a:endParaRPr kumimoji="1" lang="ja-JP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00F420C-702C-42A6-CE2E-3CC29F75DA13}"/>
              </a:ext>
            </a:extLst>
          </p:cNvPr>
          <p:cNvSpPr txBox="1"/>
          <p:nvPr/>
        </p:nvSpPr>
        <p:spPr>
          <a:xfrm>
            <a:off x="4557359" y="4473987"/>
            <a:ext cx="1419416" cy="369332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latin typeface="Arial" panose="020B0604020202020204" pitchFamily="34" charset="0"/>
                <a:cs typeface="Arial" panose="020B0604020202020204" pitchFamily="34" charset="0"/>
              </a:rPr>
              <a:t>Japanese</a:t>
            </a:r>
            <a:endParaRPr kumimoji="1" lang="ja-JP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9EE8F53-E080-AB94-6E2D-8C111C67F895}"/>
              </a:ext>
            </a:extLst>
          </p:cNvPr>
          <p:cNvSpPr txBox="1"/>
          <p:nvPr/>
        </p:nvSpPr>
        <p:spPr>
          <a:xfrm>
            <a:off x="4639256" y="5987246"/>
            <a:ext cx="3402825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ja-JP" sz="1200" b="1" dirty="0">
                <a:latin typeface="Arial" panose="020B0604020202020204" pitchFamily="34" charset="0"/>
                <a:cs typeface="Arial" panose="020B0604020202020204" pitchFamily="34" charset="0"/>
              </a:rPr>
              <a:t>Sankei news</a:t>
            </a:r>
          </a:p>
          <a:p>
            <a:r>
              <a:rPr lang="ja-JP" altLang="en-US" sz="12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https://www.sankei.com/article/20260626-ET3LTBEWGBGWVJKRKJU24T6JWI/</a:t>
            </a:r>
            <a:endParaRPr lang="en-US" altLang="ja-JP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8B507E1-DF9A-00AF-A558-E8CF3EF7DF9C}"/>
              </a:ext>
            </a:extLst>
          </p:cNvPr>
          <p:cNvSpPr txBox="1"/>
          <p:nvPr/>
        </p:nvSpPr>
        <p:spPr>
          <a:xfrm>
            <a:off x="7654088" y="6356578"/>
            <a:ext cx="4805266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ja-JP" sz="1200" b="1" dirty="0"/>
              <a:t>Japan Korea  DAILY</a:t>
            </a:r>
            <a:endParaRPr lang="en-US" altLang="ja-JP" sz="1200" b="1" dirty="0">
              <a:hlinkClick r:id="rId6"/>
            </a:endParaRPr>
          </a:p>
          <a:p>
            <a:r>
              <a:rPr lang="en-US" altLang="ja-JP" sz="1200" dirty="0">
                <a:hlinkClick r:id="rId6"/>
              </a:rPr>
              <a:t>https://www.jk-daily.co.kr/news/articleView.html?idxno=40639</a:t>
            </a:r>
            <a:endParaRPr lang="en-US" altLang="ja-JP" sz="12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C39E98B4-7ACD-D2DC-B22C-393A8B0712C4}"/>
              </a:ext>
            </a:extLst>
          </p:cNvPr>
          <p:cNvSpPr txBox="1"/>
          <p:nvPr/>
        </p:nvSpPr>
        <p:spPr>
          <a:xfrm>
            <a:off x="455000" y="4473987"/>
            <a:ext cx="2425046" cy="369332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latin typeface="Arial" panose="020B0604020202020204" pitchFamily="34" charset="0"/>
                <a:cs typeface="Arial" panose="020B0604020202020204" pitchFamily="34" charset="0"/>
              </a:rPr>
              <a:t>Simplified Chinese</a:t>
            </a:r>
            <a:endParaRPr kumimoji="1" lang="ja-JP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A3DB7552-642B-284F-36F9-6C2902AC28E5}"/>
              </a:ext>
            </a:extLst>
          </p:cNvPr>
          <p:cNvSpPr txBox="1"/>
          <p:nvPr/>
        </p:nvSpPr>
        <p:spPr>
          <a:xfrm>
            <a:off x="438081" y="6171912"/>
            <a:ext cx="2241679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ja-JP" sz="1200" b="1" dirty="0">
                <a:latin typeface="Arial" panose="020B0604020202020204" pitchFamily="34" charset="0"/>
                <a:cs typeface="Arial" panose="020B0604020202020204" pitchFamily="34" charset="0"/>
              </a:rPr>
              <a:t>People’s daily</a:t>
            </a:r>
          </a:p>
          <a:p>
            <a:r>
              <a:rPr lang="ja-JP" altLang="en-US" sz="1200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https://www.people.com.cn/</a:t>
            </a:r>
            <a:endParaRPr lang="en-US" altLang="ja-JP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01920E53-4610-4BE8-F00B-E59EEEF3C087}"/>
              </a:ext>
            </a:extLst>
          </p:cNvPr>
          <p:cNvSpPr/>
          <p:nvPr/>
        </p:nvSpPr>
        <p:spPr>
          <a:xfrm>
            <a:off x="318081" y="947418"/>
            <a:ext cx="5298811" cy="3380423"/>
          </a:xfrm>
          <a:prstGeom prst="roundRect">
            <a:avLst>
              <a:gd name="adj" fmla="val 9490"/>
            </a:avLst>
          </a:prstGeom>
          <a:solidFill>
            <a:schemeClr val="accent5">
              <a:lumMod val="60000"/>
              <a:lumOff val="40000"/>
              <a:alpha val="20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ja-JP" altLang="ja-JP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92AF6FF4-556A-38F0-5BE2-DC90D44C5D0F}"/>
              </a:ext>
            </a:extLst>
          </p:cNvPr>
          <p:cNvSpPr txBox="1"/>
          <p:nvPr/>
        </p:nvSpPr>
        <p:spPr>
          <a:xfrm>
            <a:off x="390909" y="1098746"/>
            <a:ext cx="5225984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25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Phonetic Divergence</a:t>
            </a:r>
          </a:p>
          <a:p>
            <a:r>
              <a:rPr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・</a:t>
            </a:r>
            <a:r>
              <a:rPr lang="ja-JP" altLang="ja-JP" dirty="0">
                <a:latin typeface="Arial" panose="020B0604020202020204" pitchFamily="34" charset="0"/>
                <a:cs typeface="Arial" panose="020B0604020202020204" pitchFamily="34" charset="0"/>
              </a:rPr>
              <a:t>Japanese, Chinese, and Korean share the same character root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s.</a:t>
            </a:r>
          </a:p>
          <a:p>
            <a:endParaRPr lang="en-US" altLang="ja-JP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・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ja-JP" altLang="ja-JP" dirty="0">
                <a:latin typeface="Arial" panose="020B0604020202020204" pitchFamily="34" charset="0"/>
                <a:cs typeface="Arial" panose="020B0604020202020204" pitchFamily="34" charset="0"/>
              </a:rPr>
              <a:t>heir pronunciations have diverged significantly over centuries.</a:t>
            </a:r>
          </a:p>
          <a:p>
            <a:endParaRPr lang="en-US" altLang="ja-JP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・</a:t>
            </a:r>
            <a:r>
              <a:rPr lang="ja-JP" altLang="ja-JP" dirty="0">
                <a:latin typeface="Arial" panose="020B0604020202020204" pitchFamily="34" charset="0"/>
                <a:cs typeface="Arial" panose="020B0604020202020204" pitchFamily="34" charset="0"/>
              </a:rPr>
              <a:t>Language learners and researchers struggle to bridge these phonetic gaps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en-US" altLang="ja-JP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kumimoji="1" lang="ja-JP" altLang="en-US" sz="25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D4C7163D-95C1-E771-9638-92D368BE7B90}"/>
              </a:ext>
            </a:extLst>
          </p:cNvPr>
          <p:cNvSpPr/>
          <p:nvPr/>
        </p:nvSpPr>
        <p:spPr>
          <a:xfrm>
            <a:off x="5775617" y="947418"/>
            <a:ext cx="5495731" cy="3380423"/>
          </a:xfrm>
          <a:prstGeom prst="roundRect">
            <a:avLst>
              <a:gd name="adj" fmla="val 9490"/>
            </a:avLst>
          </a:prstGeom>
          <a:solidFill>
            <a:schemeClr val="accent5">
              <a:lumMod val="60000"/>
              <a:lumOff val="40000"/>
              <a:alpha val="20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ja-JP" altLang="ja-JP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517F55D5-12E8-FA9D-2FD9-37547298F643}"/>
              </a:ext>
            </a:extLst>
          </p:cNvPr>
          <p:cNvSpPr txBox="1"/>
          <p:nvPr/>
        </p:nvSpPr>
        <p:spPr>
          <a:xfrm>
            <a:off x="5812941" y="1094617"/>
            <a:ext cx="4759589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25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P</a:t>
            </a:r>
            <a:r>
              <a:rPr lang="en-US" altLang="ja-JP" sz="2500" b="1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roject</a:t>
            </a:r>
            <a:r>
              <a:rPr lang="en-US" altLang="ja-JP" sz="25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Goal</a:t>
            </a:r>
            <a:endParaRPr lang="ja-JP" altLang="ja-JP" sz="25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・</a:t>
            </a:r>
            <a:r>
              <a:rPr lang="ja-JP" altLang="ja-JP" b="1" dirty="0">
                <a:latin typeface="Arial" panose="020B0604020202020204" pitchFamily="34" charset="0"/>
                <a:cs typeface="Arial" panose="020B0604020202020204" pitchFamily="34" charset="0"/>
              </a:rPr>
              <a:t>Kanji Reader</a:t>
            </a:r>
            <a:r>
              <a:rPr lang="ja-JP" altLang="ja-JP" dirty="0">
                <a:latin typeface="Arial" panose="020B0604020202020204" pitchFamily="34" charset="0"/>
                <a:cs typeface="Arial" panose="020B0604020202020204" pitchFamily="34" charset="0"/>
              </a:rPr>
              <a:t> was created to provide a unified data bridge. </a:t>
            </a:r>
            <a:endParaRPr lang="en-US" altLang="ja-JP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ja-JP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・</a:t>
            </a:r>
            <a:r>
              <a:rPr lang="ja-JP" altLang="ja-JP" dirty="0">
                <a:latin typeface="Arial" panose="020B0604020202020204" pitchFamily="34" charset="0"/>
                <a:cs typeface="Arial" panose="020B0604020202020204" pitchFamily="34" charset="0"/>
              </a:rPr>
              <a:t>The goal 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ja-JP" altLang="ja-JP" dirty="0">
                <a:latin typeface="Arial" panose="020B0604020202020204" pitchFamily="34" charset="0"/>
                <a:cs typeface="Arial" panose="020B0604020202020204" pitchFamily="34" charset="0"/>
              </a:rPr>
              <a:t> to build a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n extension</a:t>
            </a:r>
            <a:r>
              <a:rPr lang="ja-JP" altLang="ja-JP" dirty="0">
                <a:latin typeface="Arial" panose="020B0604020202020204" pitchFamily="34" charset="0"/>
                <a:cs typeface="Arial" panose="020B0604020202020204" pitchFamily="34" charset="0"/>
              </a:rPr>
              <a:t> tool on web content to show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and to simultaneously compare </a:t>
            </a:r>
          </a:p>
          <a:p>
            <a:r>
              <a:rPr lang="en-US" altLang="ja-JP" b="1" dirty="0">
                <a:latin typeface="Arial" panose="020B0604020202020204" pitchFamily="34" charset="0"/>
                <a:cs typeface="Arial" panose="020B0604020202020204" pitchFamily="34" charset="0"/>
              </a:rPr>
              <a:t>On-</a:t>
            </a:r>
            <a:r>
              <a:rPr lang="en-US" altLang="ja-JP" b="1" dirty="0" err="1">
                <a:latin typeface="Arial" panose="020B0604020202020204" pitchFamily="34" charset="0"/>
                <a:cs typeface="Arial" panose="020B0604020202020204" pitchFamily="34" charset="0"/>
              </a:rPr>
              <a:t>yomi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 (JP), </a:t>
            </a:r>
            <a:r>
              <a:rPr lang="en-US" altLang="ja-JP" b="1" dirty="0">
                <a:latin typeface="Arial" panose="020B0604020202020204" pitchFamily="34" charset="0"/>
                <a:cs typeface="Arial" panose="020B0604020202020204" pitchFamily="34" charset="0"/>
              </a:rPr>
              <a:t>Pinyin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 (CN) and </a:t>
            </a:r>
            <a:r>
              <a:rPr lang="en-US" altLang="ja-JP" b="1" dirty="0">
                <a:latin typeface="Arial" panose="020B0604020202020204" pitchFamily="34" charset="0"/>
                <a:cs typeface="Arial" panose="020B0604020202020204" pitchFamily="34" charset="0"/>
              </a:rPr>
              <a:t>Hangeul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 (KR).</a:t>
            </a:r>
            <a:endParaRPr kumimoji="1" lang="ja-JP" altLang="en-US" sz="25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530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E688BB-93A8-BCA9-E48E-429C88CC6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ja-JP" b="1" dirty="0"/>
              <a:t>Software Overview</a:t>
            </a:r>
          </a:p>
        </p:txBody>
      </p:sp>
      <p:sp>
        <p:nvSpPr>
          <p:cNvPr id="3" name=" 2">
            <a:extLst>
              <a:ext uri="{FF2B5EF4-FFF2-40B4-BE49-F238E27FC236}">
                <a16:creationId xmlns:a16="http://schemas.microsoft.com/office/drawing/2014/main" id="{9DFAA9F2-3AB2-2B50-5AA2-411700A5179D}"/>
              </a:ext>
            </a:extLst>
          </p:cNvPr>
          <p:cNvSpPr>
            <a:spLocks noGrp="1"/>
          </p:cNvSpPr>
          <p:nvPr>
            <p:ph idx="1"/>
          </p:nvPr>
        </p:nvSpPr>
        <p:spPr/>
      </p:sp>
      <p:pic>
        <p:nvPicPr>
          <p:cNvPr id="5" name="Google Shape;117;p16" descr="image.png">
            <a:extLst>
              <a:ext uri="{FF2B5EF4-FFF2-40B4-BE49-F238E27FC236}">
                <a16:creationId xmlns:a16="http://schemas.microsoft.com/office/drawing/2014/main" id="{9F891DD1-972D-7F2E-8338-AD80E279AFA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8800" y="953144"/>
            <a:ext cx="3429000" cy="2633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18;p16" descr="image.png">
            <a:extLst>
              <a:ext uri="{FF2B5EF4-FFF2-40B4-BE49-F238E27FC236}">
                <a16:creationId xmlns:a16="http://schemas.microsoft.com/office/drawing/2014/main" id="{7698742C-4088-27B3-CA24-B38C3F72A3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8800" y="953144"/>
            <a:ext cx="3429000" cy="2633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19;p16" descr="image.png">
            <a:extLst>
              <a:ext uri="{FF2B5EF4-FFF2-40B4-BE49-F238E27FC236}">
                <a16:creationId xmlns:a16="http://schemas.microsoft.com/office/drawing/2014/main" id="{AB55F5A3-8D1D-8E28-FF19-9092FCE3086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78800" y="953144"/>
            <a:ext cx="3429000" cy="263396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20;p16">
            <a:extLst>
              <a:ext uri="{FF2B5EF4-FFF2-40B4-BE49-F238E27FC236}">
                <a16:creationId xmlns:a16="http://schemas.microsoft.com/office/drawing/2014/main" id="{7C8A5243-D9A0-8703-5908-E7DE968F0F62}"/>
              </a:ext>
            </a:extLst>
          </p:cNvPr>
          <p:cNvSpPr txBox="1"/>
          <p:nvPr/>
        </p:nvSpPr>
        <p:spPr>
          <a:xfrm>
            <a:off x="783113" y="1993900"/>
            <a:ext cx="298037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Instant Lookup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1;p16">
            <a:extLst>
              <a:ext uri="{FF2B5EF4-FFF2-40B4-BE49-F238E27FC236}">
                <a16:creationId xmlns:a16="http://schemas.microsoft.com/office/drawing/2014/main" id="{9D544B81-7118-1FAC-30E0-9CDACE6202DE}"/>
              </a:ext>
            </a:extLst>
          </p:cNvPr>
          <p:cNvSpPr txBox="1"/>
          <p:nvPr/>
        </p:nvSpPr>
        <p:spPr>
          <a:xfrm>
            <a:off x="854075" y="2377430"/>
            <a:ext cx="2838450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Triggers phonetic display via high-speed selection change listeners or Ctrl-click interactions.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Google Shape;122;p16">
            <a:extLst>
              <a:ext uri="{FF2B5EF4-FFF2-40B4-BE49-F238E27FC236}">
                <a16:creationId xmlns:a16="http://schemas.microsoft.com/office/drawing/2014/main" id="{FC1AD82D-DE51-1FA6-12F3-2D1107B90D22}"/>
              </a:ext>
            </a:extLst>
          </p:cNvPr>
          <p:cNvSpPr txBox="1"/>
          <p:nvPr/>
        </p:nvSpPr>
        <p:spPr>
          <a:xfrm>
            <a:off x="4593113" y="1993900"/>
            <a:ext cx="298037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Trilingual Data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Google Shape;123;p16">
            <a:extLst>
              <a:ext uri="{FF2B5EF4-FFF2-40B4-BE49-F238E27FC236}">
                <a16:creationId xmlns:a16="http://schemas.microsoft.com/office/drawing/2014/main" id="{100165E6-0045-D414-99B6-17CA7DEE2D9A}"/>
              </a:ext>
            </a:extLst>
          </p:cNvPr>
          <p:cNvSpPr txBox="1"/>
          <p:nvPr/>
        </p:nvSpPr>
        <p:spPr>
          <a:xfrm>
            <a:off x="4664075" y="2377430"/>
            <a:ext cx="2838450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Integrated support for Japanese, Chinese, and Korean readings within a single view.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Google Shape;124;p16">
            <a:extLst>
              <a:ext uri="{FF2B5EF4-FFF2-40B4-BE49-F238E27FC236}">
                <a16:creationId xmlns:a16="http://schemas.microsoft.com/office/drawing/2014/main" id="{46446FA0-4B8D-EE30-02A0-48C1088D66E2}"/>
              </a:ext>
            </a:extLst>
          </p:cNvPr>
          <p:cNvSpPr txBox="1"/>
          <p:nvPr/>
        </p:nvSpPr>
        <p:spPr>
          <a:xfrm>
            <a:off x="8403113" y="1993900"/>
            <a:ext cx="298037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Customizable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Google Shape;125;p16">
            <a:extLst>
              <a:ext uri="{FF2B5EF4-FFF2-40B4-BE49-F238E27FC236}">
                <a16:creationId xmlns:a16="http://schemas.microsoft.com/office/drawing/2014/main" id="{77430C87-4376-17FE-7231-DD0638914420}"/>
              </a:ext>
            </a:extLst>
          </p:cNvPr>
          <p:cNvSpPr txBox="1"/>
          <p:nvPr/>
        </p:nvSpPr>
        <p:spPr>
          <a:xfrm>
            <a:off x="8474075" y="2377430"/>
            <a:ext cx="2838450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Flexible settings to toggle specific languages and enable/disable features per user needs.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Google Shape;126;p16" descr="image.png">
            <a:extLst>
              <a:ext uri="{FF2B5EF4-FFF2-40B4-BE49-F238E27FC236}">
                <a16:creationId xmlns:a16="http://schemas.microsoft.com/office/drawing/2014/main" id="{439D2465-5B47-726B-586F-81A57A4BF9A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73275" y="1296044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127;p16" descr="image.png">
            <a:extLst>
              <a:ext uri="{FF2B5EF4-FFF2-40B4-BE49-F238E27FC236}">
                <a16:creationId xmlns:a16="http://schemas.microsoft.com/office/drawing/2014/main" id="{0C2DF642-FA93-A4BF-8391-F921CB619F2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97550" y="1296044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128;p16" descr="image.png">
            <a:extLst>
              <a:ext uri="{FF2B5EF4-FFF2-40B4-BE49-F238E27FC236}">
                <a16:creationId xmlns:a16="http://schemas.microsoft.com/office/drawing/2014/main" id="{C7B444B2-A00C-0052-4CCD-0C2D777F415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07550" y="1296044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C7352B86-7D09-5B93-4A42-7D57D09D29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510" y="3545700"/>
            <a:ext cx="4470400" cy="1780964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09B9013F-953F-FA46-2451-0634D47033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9677" y="3739547"/>
            <a:ext cx="3083807" cy="3037433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FB40A419-B57F-EE9C-DFF3-1D53E78EC50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31121" y="4868460"/>
            <a:ext cx="3929758" cy="2000468"/>
          </a:xfrm>
          <a:prstGeom prst="rect">
            <a:avLst/>
          </a:prstGeom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86AA39D-B08A-40AE-941F-BAF9F6F3E68B}"/>
              </a:ext>
            </a:extLst>
          </p:cNvPr>
          <p:cNvSpPr txBox="1"/>
          <p:nvPr/>
        </p:nvSpPr>
        <p:spPr>
          <a:xfrm>
            <a:off x="301494" y="5326664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https://www.wiktionary.org/</a:t>
            </a:r>
            <a:endParaRPr lang="en-US" altLang="ja-JP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2CFD674B-FB04-EE07-661E-D7220F12D27B}"/>
              </a:ext>
            </a:extLst>
          </p:cNvPr>
          <p:cNvSpPr txBox="1"/>
          <p:nvPr/>
        </p:nvSpPr>
        <p:spPr>
          <a:xfrm>
            <a:off x="5028690" y="4639117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latin typeface="Arial" panose="020B0604020202020204" pitchFamily="34" charset="0"/>
                <a:cs typeface="Arial" panose="020B0604020202020204" pitchFamily="34" charset="0"/>
                <a:hlinkClick r:id="rId12"/>
              </a:rPr>
              <a:t>https://xy.people.cn/user/login</a:t>
            </a:r>
            <a:endParaRPr lang="en-US" altLang="ja-JP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255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AB48B-D1E1-F02B-6A3C-8782E3057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A7067E-0418-4F76-FF17-3B396E070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/>
              <a:t>Install app</a:t>
            </a:r>
            <a:endParaRPr lang="ja-JP" altLang="ja-JP" b="1" dirty="0"/>
          </a:p>
        </p:txBody>
      </p:sp>
      <p:sp>
        <p:nvSpPr>
          <p:cNvPr id="3" name=" 2">
            <a:extLst>
              <a:ext uri="{FF2B5EF4-FFF2-40B4-BE49-F238E27FC236}">
                <a16:creationId xmlns:a16="http://schemas.microsoft.com/office/drawing/2014/main" id="{87D40A07-D173-FE1D-0304-36FFAAD1863B}"/>
              </a:ext>
            </a:extLst>
          </p:cNvPr>
          <p:cNvSpPr>
            <a:spLocks noGrp="1"/>
          </p:cNvSpPr>
          <p:nvPr>
            <p:ph idx="1"/>
          </p:nvPr>
        </p:nvSpPr>
        <p:spPr/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A5F5480-3224-A023-A89A-81CE7BB68830}"/>
              </a:ext>
            </a:extLst>
          </p:cNvPr>
          <p:cNvSpPr txBox="1"/>
          <p:nvPr/>
        </p:nvSpPr>
        <p:spPr>
          <a:xfrm>
            <a:off x="183501" y="1694455"/>
            <a:ext cx="66145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Please visit my </a:t>
            </a:r>
            <a:r>
              <a:rPr kumimoji="1" lang="en-US" altLang="ja-JP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account 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https://github.com/dai-fujiden/KANJI_PRON.git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And download the zip folder </a:t>
            </a:r>
          </a:p>
          <a:p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    by clicking the </a:t>
            </a:r>
            <a:r>
              <a:rPr lang="en-US" altLang="ja-JP" dirty="0" err="1">
                <a:latin typeface="Arial" panose="020B0604020202020204" pitchFamily="34" charset="0"/>
                <a:cs typeface="Arial" panose="020B0604020202020204" pitchFamily="34" charset="0"/>
              </a:rPr>
              <a:t>botton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shown in the picture.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673C6CB9-E361-43C2-75AB-A18870B83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110" y="1753806"/>
            <a:ext cx="5811711" cy="1964346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C619216-639F-B117-043B-83DBD3656DBF}"/>
              </a:ext>
            </a:extLst>
          </p:cNvPr>
          <p:cNvSpPr/>
          <p:nvPr/>
        </p:nvSpPr>
        <p:spPr>
          <a:xfrm>
            <a:off x="11168744" y="2068743"/>
            <a:ext cx="839755" cy="43853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4079BD9B-D30C-E9F4-E416-2D3ADE4C659C}"/>
              </a:ext>
            </a:extLst>
          </p:cNvPr>
          <p:cNvCxnSpPr/>
          <p:nvPr/>
        </p:nvCxnSpPr>
        <p:spPr>
          <a:xfrm flipV="1">
            <a:off x="9722499" y="2274016"/>
            <a:ext cx="1446245" cy="59715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図 17">
            <a:extLst>
              <a:ext uri="{FF2B5EF4-FFF2-40B4-BE49-F238E27FC236}">
                <a16:creationId xmlns:a16="http://schemas.microsoft.com/office/drawing/2014/main" id="{C78475E7-4410-1099-CF56-9CBDEAD01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055" y="3914638"/>
            <a:ext cx="5120803" cy="2295331"/>
          </a:xfrm>
          <a:prstGeom prst="rect">
            <a:avLst/>
          </a:prstGeom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55C8257-05EC-A6EC-D2E7-D9E878828DB7}"/>
              </a:ext>
            </a:extLst>
          </p:cNvPr>
          <p:cNvSpPr txBox="1"/>
          <p:nvPr/>
        </p:nvSpPr>
        <p:spPr>
          <a:xfrm>
            <a:off x="183501" y="4138974"/>
            <a:ext cx="6097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 startAt="3"/>
            </a:pP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Click Downloads Zip. </a:t>
            </a:r>
          </a:p>
          <a:p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    Please make sure the folder </a:t>
            </a:r>
            <a:r>
              <a:rPr lang="en-US" altLang="ja-JP" b="1" dirty="0" err="1">
                <a:solidFill>
                  <a:srgbClr val="4F46E5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kanji_reader</a:t>
            </a:r>
            <a:r>
              <a:rPr lang="en-US" altLang="ja-JP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existing</a:t>
            </a:r>
          </a:p>
          <a:p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    in the Zip.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93DC0008-E65E-09B4-1610-61BE6D94687A}"/>
              </a:ext>
            </a:extLst>
          </p:cNvPr>
          <p:cNvSpPr/>
          <p:nvPr/>
        </p:nvSpPr>
        <p:spPr>
          <a:xfrm>
            <a:off x="9139965" y="5877666"/>
            <a:ext cx="839755" cy="40007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0CA17F04-D920-12C0-FCAF-159AE6D2ABE8}"/>
              </a:ext>
            </a:extLst>
          </p:cNvPr>
          <p:cNvCxnSpPr>
            <a:cxnSpLocks/>
          </p:cNvCxnSpPr>
          <p:nvPr/>
        </p:nvCxnSpPr>
        <p:spPr>
          <a:xfrm flipV="1">
            <a:off x="7693720" y="6059710"/>
            <a:ext cx="1446245" cy="59715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5284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59878B-9920-66D5-62F7-2A5C658A3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b="1" dirty="0"/>
              <a:t>Preparation </a:t>
            </a:r>
            <a:endParaRPr kumimoji="1" lang="ja-JP" altLang="en-US" b="1" dirty="0"/>
          </a:p>
        </p:txBody>
      </p:sp>
      <p:sp>
        <p:nvSpPr>
          <p:cNvPr id="3" name=" 2">
            <a:extLst>
              <a:ext uri="{FF2B5EF4-FFF2-40B4-BE49-F238E27FC236}">
                <a16:creationId xmlns:a16="http://schemas.microsoft.com/office/drawing/2014/main" id="{F4D12BF3-2BB0-2950-B163-FD6CB9EF0FD0}"/>
              </a:ext>
            </a:extLst>
          </p:cNvPr>
          <p:cNvSpPr>
            <a:spLocks noGrp="1"/>
          </p:cNvSpPr>
          <p:nvPr>
            <p:ph idx="1"/>
          </p:nvPr>
        </p:nvSpPr>
        <p:spPr/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40CA18F-2795-6015-3FE4-BA9CC4331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92" y="2205720"/>
            <a:ext cx="4496514" cy="1679563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9E49CF5-633B-3980-1F78-F9BA4083F341}"/>
              </a:ext>
            </a:extLst>
          </p:cNvPr>
          <p:cNvSpPr txBox="1"/>
          <p:nvPr/>
        </p:nvSpPr>
        <p:spPr>
          <a:xfrm>
            <a:off x="125964" y="791799"/>
            <a:ext cx="6405790" cy="1795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ja-JP" sz="2200" b="1" dirty="0">
                <a:solidFill>
                  <a:srgbClr val="4F46E5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1. Enter the extensions manage page</a:t>
            </a:r>
            <a:endParaRPr kumimoji="1" lang="en-US" altLang="ja-JP" sz="2200" b="0" i="0" u="none" strike="noStrike" kern="1200" cap="none" spc="0" normalizeH="0" baseline="0" noProof="0" dirty="0">
              <a:ln>
                <a:noFill/>
              </a:ln>
              <a:solidFill>
                <a:srgbClr val="475569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  <a:p>
            <a:pPr marL="0" marR="0" lvl="0" indent="0" algn="l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After downloads Zip from the </a:t>
            </a:r>
            <a:r>
              <a:rPr kumimoji="1" lang="en-US" altLang="ja-JP" b="0" i="0" u="none" strike="noStrike" kern="120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Github</a:t>
            </a:r>
            <a:r>
              <a:rPr kumimoji="1" lang="en-US" altLang="ja-JP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,</a:t>
            </a:r>
          </a:p>
          <a:p>
            <a:pPr marL="0" marR="0" lvl="0" indent="0" algn="l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>
                <a:solidFill>
                  <a:srgbClr val="475569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l</a:t>
            </a:r>
            <a:r>
              <a:rPr kumimoji="1" lang="en-US" altLang="ja-JP" b="0" i="0" u="none" strike="noStrike" kern="120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aunch</a:t>
            </a:r>
            <a:r>
              <a:rPr kumimoji="1" lang="en-US" altLang="ja-JP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 Google Chrome and simply enter </a:t>
            </a:r>
            <a:r>
              <a:rPr kumimoji="1" lang="en-US" altLang="ja-JP" b="1" i="0" u="none" strike="noStrike" kern="1200" cap="none" spc="0" normalizeH="0" baseline="0" noProof="0" dirty="0">
                <a:ln>
                  <a:noFill/>
                </a:ln>
                <a:solidFill>
                  <a:srgbClr val="4F46E5"/>
                </a:solidFill>
                <a:effectLst/>
                <a:uLnTx/>
                <a:uFillTx/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chrome://extensions/</a:t>
            </a:r>
            <a:r>
              <a:rPr kumimoji="1" lang="en-US" altLang="ja-JP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 in your address bar.</a:t>
            </a:r>
            <a:endParaRPr kumimoji="1" lang="en-US" altLang="ja-JP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pic>
        <p:nvPicPr>
          <p:cNvPr id="10" name="図 9" descr="image">
            <a:extLst>
              <a:ext uri="{FF2B5EF4-FFF2-40B4-BE49-F238E27FC236}">
                <a16:creationId xmlns:a16="http://schemas.microsoft.com/office/drawing/2014/main" id="{0C2DAFC9-BE1A-0FDA-7C39-8140BEE2B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364" y="5245777"/>
            <a:ext cx="6405791" cy="1822475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3190473-4CA1-F3A9-8253-BF1307EB57D9}"/>
              </a:ext>
            </a:extLst>
          </p:cNvPr>
          <p:cNvSpPr txBox="1"/>
          <p:nvPr/>
        </p:nvSpPr>
        <p:spPr>
          <a:xfrm>
            <a:off x="125964" y="4186768"/>
            <a:ext cx="6097554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2200" b="1" dirty="0">
                <a:solidFill>
                  <a:srgbClr val="4F46E5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2. Turning on the developer mode</a:t>
            </a:r>
            <a:endParaRPr kumimoji="1" lang="en-US" altLang="ja-JP" sz="2200" b="0" i="0" u="none" strike="noStrike" kern="1200" cap="none" spc="0" normalizeH="0" baseline="0" noProof="0" dirty="0">
              <a:ln>
                <a:noFill/>
              </a:ln>
              <a:solidFill>
                <a:srgbClr val="475569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  <a:p>
            <a:pPr lvl="0"/>
            <a:r>
              <a:rPr lang="en-US" altLang="ja-JP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Click the </a:t>
            </a:r>
            <a:r>
              <a:rPr lang="en-US" altLang="ja-JP" b="1" dirty="0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Developer Mode</a:t>
            </a:r>
            <a:r>
              <a:rPr lang="en-US" altLang="ja-JP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toggle in the top right corner, and turn it </a:t>
            </a:r>
            <a:r>
              <a:rPr lang="en-US" altLang="ja-JP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on</a:t>
            </a:r>
            <a:r>
              <a:rPr lang="en-US" altLang="ja-JP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en-US" altLang="ja-JP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BF510C9-B78E-AE0A-8E98-6163183F4963}"/>
              </a:ext>
            </a:extLst>
          </p:cNvPr>
          <p:cNvSpPr txBox="1"/>
          <p:nvPr/>
        </p:nvSpPr>
        <p:spPr>
          <a:xfrm>
            <a:off x="6315270" y="791799"/>
            <a:ext cx="6405790" cy="1795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ja-JP" sz="2200" b="1" dirty="0">
                <a:solidFill>
                  <a:srgbClr val="4F46E5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3. Activation of the Extension</a:t>
            </a:r>
            <a:endParaRPr kumimoji="1" lang="en-US" altLang="ja-JP" sz="2200" b="0" i="0" u="none" strike="noStrike" kern="1200" cap="none" spc="0" normalizeH="0" baseline="0" noProof="0" dirty="0">
              <a:ln>
                <a:noFill/>
              </a:ln>
              <a:solidFill>
                <a:srgbClr val="475569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  <a:p>
            <a:pPr>
              <a:defRPr/>
            </a:pPr>
            <a:r>
              <a:rPr lang="en-US" altLang="ja-JP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Click the </a:t>
            </a:r>
            <a:r>
              <a:rPr lang="en-US" altLang="ja-JP" b="1" dirty="0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"Load unpacked"</a:t>
            </a:r>
            <a:r>
              <a:rPr lang="en-US" altLang="ja-JP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button on the top left.</a:t>
            </a:r>
            <a:endParaRPr lang="en-US" altLang="ja-JP" dirty="0"/>
          </a:p>
          <a:p>
            <a:pPr>
              <a:defRPr/>
            </a:pPr>
            <a:r>
              <a:rPr lang="en-US" altLang="ja-JP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Navigate your file explorer and select </a:t>
            </a:r>
          </a:p>
          <a:p>
            <a:pPr>
              <a:defRPr/>
            </a:pPr>
            <a:r>
              <a:rPr lang="en-US" altLang="ja-JP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 altLang="ja-JP" b="1" dirty="0" err="1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kanji_reader</a:t>
            </a:r>
            <a:r>
              <a:rPr lang="en-US" altLang="ja-JP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folder in the zip file </a:t>
            </a:r>
            <a:r>
              <a:rPr lang="ja-JP" altLang="ja-JP" b="1" i="0" u="sng" dirty="0">
                <a:solidFill>
                  <a:srgbClr val="F0F6FC"/>
                </a:solidFill>
                <a:effectLst/>
                <a:latin typeface="Mona Sans VF"/>
                <a:hlinkClick r:id="rId4"/>
              </a:rPr>
              <a:t>KANJI_PRON</a:t>
            </a:r>
            <a:r>
              <a:rPr kumimoji="1" lang="en-US" altLang="ja-JP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70ED922F-4364-3964-D04D-6C3370E64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544" y="2277414"/>
            <a:ext cx="4910832" cy="308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533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BE52D2-7220-D7C6-2B73-44D0EFED2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b="1" dirty="0"/>
              <a:t>Usage - configure </a:t>
            </a:r>
            <a:endParaRPr kumimoji="1" lang="ja-JP" altLang="en-US" b="1" dirty="0"/>
          </a:p>
        </p:txBody>
      </p:sp>
      <p:sp>
        <p:nvSpPr>
          <p:cNvPr id="3" name=" 2">
            <a:extLst>
              <a:ext uri="{FF2B5EF4-FFF2-40B4-BE49-F238E27FC236}">
                <a16:creationId xmlns:a16="http://schemas.microsoft.com/office/drawing/2014/main" id="{69418CFF-3A07-547C-1390-FD34EF794276}"/>
              </a:ext>
            </a:extLst>
          </p:cNvPr>
          <p:cNvSpPr>
            <a:spLocks noGrp="1"/>
          </p:cNvSpPr>
          <p:nvPr>
            <p:ph idx="1"/>
          </p:nvPr>
        </p:nvSpPr>
        <p:spPr/>
      </p:sp>
      <p:sp>
        <p:nvSpPr>
          <p:cNvPr id="5" name="Google Shape;158;p18">
            <a:extLst>
              <a:ext uri="{FF2B5EF4-FFF2-40B4-BE49-F238E27FC236}">
                <a16:creationId xmlns:a16="http://schemas.microsoft.com/office/drawing/2014/main" id="{4A5312E6-C495-E17F-30D6-7E2843C7382A}"/>
              </a:ext>
            </a:extLst>
          </p:cNvPr>
          <p:cNvSpPr/>
          <p:nvPr/>
        </p:nvSpPr>
        <p:spPr>
          <a:xfrm>
            <a:off x="571500" y="1823045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7" name="Google Shape;159;p18">
            <a:extLst>
              <a:ext uri="{FF2B5EF4-FFF2-40B4-BE49-F238E27FC236}">
                <a16:creationId xmlns:a16="http://schemas.microsoft.com/office/drawing/2014/main" id="{E0596B77-7814-604F-3F12-CFE98497ED0F}"/>
              </a:ext>
            </a:extLst>
          </p:cNvPr>
          <p:cNvSpPr txBox="1"/>
          <p:nvPr/>
        </p:nvSpPr>
        <p:spPr>
          <a:xfrm>
            <a:off x="3484434" y="1775295"/>
            <a:ext cx="26683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0" u="none" strike="noStrike" cap="none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1. Select</a:t>
            </a:r>
            <a:endParaRPr lang="en-US" sz="20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Google Shape;160;p18">
            <a:extLst>
              <a:ext uri="{FF2B5EF4-FFF2-40B4-BE49-F238E27FC236}">
                <a16:creationId xmlns:a16="http://schemas.microsoft.com/office/drawing/2014/main" id="{6E2E8136-FDF2-B7C7-701A-8EA984E8DE1F}"/>
              </a:ext>
            </a:extLst>
          </p:cNvPr>
          <p:cNvSpPr txBox="1"/>
          <p:nvPr/>
        </p:nvSpPr>
        <p:spPr>
          <a:xfrm>
            <a:off x="3667933" y="1958938"/>
            <a:ext cx="254124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oogle Shape;161;p18">
            <a:extLst>
              <a:ext uri="{FF2B5EF4-FFF2-40B4-BE49-F238E27FC236}">
                <a16:creationId xmlns:a16="http://schemas.microsoft.com/office/drawing/2014/main" id="{C369D722-5802-8696-030F-92DBE38846F8}"/>
              </a:ext>
            </a:extLst>
          </p:cNvPr>
          <p:cNvSpPr txBox="1"/>
          <p:nvPr/>
        </p:nvSpPr>
        <p:spPr>
          <a:xfrm>
            <a:off x="6551503" y="1493076"/>
            <a:ext cx="26683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0" u="none" strike="noStrike" cap="none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2. Trigger</a:t>
            </a:r>
            <a:endParaRPr sz="20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Google Shape;163;p18">
            <a:extLst>
              <a:ext uri="{FF2B5EF4-FFF2-40B4-BE49-F238E27FC236}">
                <a16:creationId xmlns:a16="http://schemas.microsoft.com/office/drawing/2014/main" id="{E86361A8-92C7-660F-8D9C-D0185C58C28B}"/>
              </a:ext>
            </a:extLst>
          </p:cNvPr>
          <p:cNvSpPr txBox="1"/>
          <p:nvPr/>
        </p:nvSpPr>
        <p:spPr>
          <a:xfrm>
            <a:off x="9156274" y="1859274"/>
            <a:ext cx="26683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0" u="none" strike="noStrike" cap="none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3. View</a:t>
            </a:r>
            <a:endParaRPr sz="20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Google Shape;165;p18">
            <a:extLst>
              <a:ext uri="{FF2B5EF4-FFF2-40B4-BE49-F238E27FC236}">
                <a16:creationId xmlns:a16="http://schemas.microsoft.com/office/drawing/2014/main" id="{AE825ECA-08D1-00A0-E421-58A94B940B95}"/>
              </a:ext>
            </a:extLst>
          </p:cNvPr>
          <p:cNvSpPr txBox="1"/>
          <p:nvPr/>
        </p:nvSpPr>
        <p:spPr>
          <a:xfrm>
            <a:off x="480896" y="1056510"/>
            <a:ext cx="26683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4F46E5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0</a:t>
            </a:r>
            <a:r>
              <a:rPr lang="en-US" sz="2000" b="1" i="0" u="none" strike="noStrike" cap="none" dirty="0">
                <a:solidFill>
                  <a:srgbClr val="4F46E5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. Configure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Google Shape;166;p18">
            <a:extLst>
              <a:ext uri="{FF2B5EF4-FFF2-40B4-BE49-F238E27FC236}">
                <a16:creationId xmlns:a16="http://schemas.microsoft.com/office/drawing/2014/main" id="{431FAFE8-420C-BC19-B551-81A548693463}"/>
              </a:ext>
            </a:extLst>
          </p:cNvPr>
          <p:cNvSpPr txBox="1"/>
          <p:nvPr/>
        </p:nvSpPr>
        <p:spPr>
          <a:xfrm>
            <a:off x="544427" y="1332735"/>
            <a:ext cx="2541240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475569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Manage visible languages via the Options page.</a:t>
            </a:r>
            <a:endParaRPr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4CE2C8A6-52C8-6D78-3213-F4BF2C8D0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73585"/>
            <a:ext cx="7872944" cy="2190274"/>
          </a:xfrm>
          <a:prstGeom prst="rect">
            <a:avLst/>
          </a:prstGeom>
        </p:spPr>
      </p:pic>
      <p:sp>
        <p:nvSpPr>
          <p:cNvPr id="33" name="Google Shape;159;p18">
            <a:extLst>
              <a:ext uri="{FF2B5EF4-FFF2-40B4-BE49-F238E27FC236}">
                <a16:creationId xmlns:a16="http://schemas.microsoft.com/office/drawing/2014/main" id="{F4B23BA5-A123-1136-D846-CDCC2895E844}"/>
              </a:ext>
            </a:extLst>
          </p:cNvPr>
          <p:cNvSpPr txBox="1"/>
          <p:nvPr/>
        </p:nvSpPr>
        <p:spPr>
          <a:xfrm>
            <a:off x="393247" y="2223090"/>
            <a:ext cx="7668402" cy="133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900" b="1" i="0" u="none" strike="noStrike" cap="none" dirty="0"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①</a:t>
            </a:r>
            <a:r>
              <a:rPr lang="ja-JP" altLang="en-US" sz="1900" b="0" i="0" u="none" strike="noStrike" cap="none" dirty="0"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 </a:t>
            </a:r>
            <a:r>
              <a:rPr lang="en-US" sz="1900" b="0" i="0" u="none" strike="noStrike" cap="none" dirty="0"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Click the puzzle icon      in the browser toolbar.</a:t>
            </a:r>
          </a:p>
          <a:p>
            <a:pPr>
              <a:lnSpc>
                <a:spcPct val="150000"/>
              </a:lnSpc>
            </a:pPr>
            <a:r>
              <a:rPr lang="ja-JP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② </a:t>
            </a:r>
            <a:r>
              <a:rPr lang="en-US" altLang="ja-JP" sz="2000" b="0" i="0" u="none" strike="noStrike" cap="none" dirty="0">
                <a:latin typeface="Lato"/>
                <a:ea typeface="Lato"/>
                <a:cs typeface="Lato"/>
                <a:sym typeface="Lato"/>
              </a:rPr>
              <a:t>Click the </a:t>
            </a:r>
            <a:r>
              <a:rPr lang="en-US" altLang="ja-JP" sz="2000" b="1" i="0" u="none" strike="noStrike" cap="none" dirty="0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three dots     </a:t>
            </a:r>
            <a:r>
              <a:rPr lang="en-US" altLang="ja-JP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altLang="ja-JP" sz="2000" b="0" i="0" u="none" strike="noStrike" cap="none" dirty="0">
                <a:latin typeface="Lato"/>
                <a:ea typeface="Lato"/>
                <a:cs typeface="Lato"/>
                <a:sym typeface="Lato"/>
              </a:rPr>
              <a:t>next to "Kanji Reader". And choose </a:t>
            </a:r>
            <a:r>
              <a:rPr lang="en-US" altLang="ja-JP" sz="2000" b="1" i="0" u="none" strike="noStrike" cap="none" dirty="0">
                <a:latin typeface="Lato"/>
                <a:ea typeface="Lato"/>
                <a:cs typeface="Lato"/>
                <a:sym typeface="Lato"/>
              </a:rPr>
              <a:t>option.</a:t>
            </a:r>
            <a:endParaRPr lang="en-US" altLang="ja-JP" sz="2000" b="1" dirty="0"/>
          </a:p>
          <a:p>
            <a:pPr lvl="0">
              <a:lnSpc>
                <a:spcPct val="150000"/>
              </a:lnSpc>
            </a:pPr>
            <a:endParaRPr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7" name="Google Shape;162;p18" descr="image.png">
            <a:extLst>
              <a:ext uri="{FF2B5EF4-FFF2-40B4-BE49-F238E27FC236}">
                <a16:creationId xmlns:a16="http://schemas.microsoft.com/office/drawing/2014/main" id="{8AFEB0C3-8363-2472-DF6B-E6249C2C6DF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9512" y="233649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163;p18" descr="image.png">
            <a:extLst>
              <a:ext uri="{FF2B5EF4-FFF2-40B4-BE49-F238E27FC236}">
                <a16:creationId xmlns:a16="http://schemas.microsoft.com/office/drawing/2014/main" id="{88A4F245-BD7F-02F2-5067-42221AA2DD0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66662" y="2778010"/>
            <a:ext cx="571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B8F5C05E-AFAA-36DD-D89C-80D486C653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4616" y="2876437"/>
            <a:ext cx="2828925" cy="3629025"/>
          </a:xfrm>
          <a:prstGeom prst="rect">
            <a:avLst/>
          </a:prstGeom>
        </p:spPr>
      </p:pic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80D89109-3F21-82CC-4B66-CEF21F390246}"/>
              </a:ext>
            </a:extLst>
          </p:cNvPr>
          <p:cNvSpPr/>
          <p:nvPr/>
        </p:nvSpPr>
        <p:spPr>
          <a:xfrm>
            <a:off x="8736396" y="5145654"/>
            <a:ext cx="839755" cy="43853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2695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61E45-E6BE-20BF-CB19-E82F74ABA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479961-F777-91F2-0DFF-4413B1CA9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b="1" dirty="0"/>
              <a:t>Usage - configure </a:t>
            </a:r>
            <a:endParaRPr kumimoji="1" lang="ja-JP" altLang="en-US" b="1" dirty="0"/>
          </a:p>
        </p:txBody>
      </p:sp>
      <p:sp>
        <p:nvSpPr>
          <p:cNvPr id="3" name=" 2">
            <a:extLst>
              <a:ext uri="{FF2B5EF4-FFF2-40B4-BE49-F238E27FC236}">
                <a16:creationId xmlns:a16="http://schemas.microsoft.com/office/drawing/2014/main" id="{14F9D664-8C83-989E-5338-91FFBB470EAC}"/>
              </a:ext>
            </a:extLst>
          </p:cNvPr>
          <p:cNvSpPr>
            <a:spLocks noGrp="1"/>
          </p:cNvSpPr>
          <p:nvPr>
            <p:ph idx="1"/>
          </p:nvPr>
        </p:nvSpPr>
        <p:spPr/>
      </p:sp>
      <p:sp>
        <p:nvSpPr>
          <p:cNvPr id="5" name="Google Shape;158;p18">
            <a:extLst>
              <a:ext uri="{FF2B5EF4-FFF2-40B4-BE49-F238E27FC236}">
                <a16:creationId xmlns:a16="http://schemas.microsoft.com/office/drawing/2014/main" id="{8D4499C2-48D7-D09E-3E0A-AADE4F63B02C}"/>
              </a:ext>
            </a:extLst>
          </p:cNvPr>
          <p:cNvSpPr/>
          <p:nvPr/>
        </p:nvSpPr>
        <p:spPr>
          <a:xfrm>
            <a:off x="571500" y="1823045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7" name="Google Shape;159;p18">
            <a:extLst>
              <a:ext uri="{FF2B5EF4-FFF2-40B4-BE49-F238E27FC236}">
                <a16:creationId xmlns:a16="http://schemas.microsoft.com/office/drawing/2014/main" id="{E508C674-EF6B-E864-309A-E1BAD1780CC6}"/>
              </a:ext>
            </a:extLst>
          </p:cNvPr>
          <p:cNvSpPr txBox="1"/>
          <p:nvPr/>
        </p:nvSpPr>
        <p:spPr>
          <a:xfrm>
            <a:off x="3484434" y="1775295"/>
            <a:ext cx="26683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0" u="none" strike="noStrike" cap="none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1. Select</a:t>
            </a:r>
            <a:endParaRPr lang="en-US" sz="20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Google Shape;160;p18">
            <a:extLst>
              <a:ext uri="{FF2B5EF4-FFF2-40B4-BE49-F238E27FC236}">
                <a16:creationId xmlns:a16="http://schemas.microsoft.com/office/drawing/2014/main" id="{A16509B7-72A2-4B12-6644-DDAFE38994A7}"/>
              </a:ext>
            </a:extLst>
          </p:cNvPr>
          <p:cNvSpPr txBox="1"/>
          <p:nvPr/>
        </p:nvSpPr>
        <p:spPr>
          <a:xfrm>
            <a:off x="3667933" y="1958938"/>
            <a:ext cx="254124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oogle Shape;161;p18">
            <a:extLst>
              <a:ext uri="{FF2B5EF4-FFF2-40B4-BE49-F238E27FC236}">
                <a16:creationId xmlns:a16="http://schemas.microsoft.com/office/drawing/2014/main" id="{F8E23148-F52C-2B84-02D3-4141AE168052}"/>
              </a:ext>
            </a:extLst>
          </p:cNvPr>
          <p:cNvSpPr txBox="1"/>
          <p:nvPr/>
        </p:nvSpPr>
        <p:spPr>
          <a:xfrm>
            <a:off x="6551503" y="1493076"/>
            <a:ext cx="26683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0" u="none" strike="noStrike" cap="none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2. Trigger</a:t>
            </a:r>
            <a:endParaRPr sz="20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Google Shape;163;p18">
            <a:extLst>
              <a:ext uri="{FF2B5EF4-FFF2-40B4-BE49-F238E27FC236}">
                <a16:creationId xmlns:a16="http://schemas.microsoft.com/office/drawing/2014/main" id="{213301A2-2273-82B6-BDB2-BA8F4DCF5674}"/>
              </a:ext>
            </a:extLst>
          </p:cNvPr>
          <p:cNvSpPr txBox="1"/>
          <p:nvPr/>
        </p:nvSpPr>
        <p:spPr>
          <a:xfrm>
            <a:off x="9156274" y="1859274"/>
            <a:ext cx="26683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0" u="none" strike="noStrike" cap="none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3. View</a:t>
            </a:r>
            <a:endParaRPr sz="20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Google Shape;165;p18">
            <a:extLst>
              <a:ext uri="{FF2B5EF4-FFF2-40B4-BE49-F238E27FC236}">
                <a16:creationId xmlns:a16="http://schemas.microsoft.com/office/drawing/2014/main" id="{B8DBD375-54AD-C10D-A1A2-688E99BA911E}"/>
              </a:ext>
            </a:extLst>
          </p:cNvPr>
          <p:cNvSpPr txBox="1"/>
          <p:nvPr/>
        </p:nvSpPr>
        <p:spPr>
          <a:xfrm>
            <a:off x="480896" y="1056510"/>
            <a:ext cx="26683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4F46E5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0</a:t>
            </a:r>
            <a:r>
              <a:rPr lang="en-US" sz="2000" b="1" i="0" u="none" strike="noStrike" cap="none" dirty="0">
                <a:solidFill>
                  <a:srgbClr val="4F46E5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. Configure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Google Shape;166;p18">
            <a:extLst>
              <a:ext uri="{FF2B5EF4-FFF2-40B4-BE49-F238E27FC236}">
                <a16:creationId xmlns:a16="http://schemas.microsoft.com/office/drawing/2014/main" id="{5A4CB4BB-0CB8-FE3E-595A-325462A4AAE1}"/>
              </a:ext>
            </a:extLst>
          </p:cNvPr>
          <p:cNvSpPr txBox="1"/>
          <p:nvPr/>
        </p:nvSpPr>
        <p:spPr>
          <a:xfrm>
            <a:off x="544427" y="1332735"/>
            <a:ext cx="2541240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475569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Manage visible languages via the Options page.</a:t>
            </a:r>
            <a:endParaRPr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Google Shape;159;p18">
            <a:extLst>
              <a:ext uri="{FF2B5EF4-FFF2-40B4-BE49-F238E27FC236}">
                <a16:creationId xmlns:a16="http://schemas.microsoft.com/office/drawing/2014/main" id="{577D6840-8C0B-D824-70DB-20AA9DE8B322}"/>
              </a:ext>
            </a:extLst>
          </p:cNvPr>
          <p:cNvSpPr txBox="1"/>
          <p:nvPr/>
        </p:nvSpPr>
        <p:spPr>
          <a:xfrm>
            <a:off x="393247" y="2223090"/>
            <a:ext cx="7668402" cy="1177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700" b="1" i="0" u="none" strike="noStrike" cap="none" dirty="0"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③</a:t>
            </a:r>
            <a:r>
              <a:rPr lang="en-US" altLang="ja-JP" sz="1700" b="0" i="0" u="none" strike="noStrike" cap="none" dirty="0">
                <a:latin typeface="Lato"/>
                <a:ea typeface="Lato"/>
                <a:cs typeface="Lato"/>
                <a:sym typeface="Lato"/>
              </a:rPr>
              <a:t>Select the phonetic systems you wish to see in your popups. </a:t>
            </a:r>
          </a:p>
          <a:p>
            <a:pPr>
              <a:lnSpc>
                <a:spcPct val="150000"/>
              </a:lnSpc>
            </a:pPr>
            <a:r>
              <a:rPr lang="en-US" altLang="ja-JP" sz="1700" b="0" i="0" u="none" strike="noStrike" cap="none" dirty="0">
                <a:latin typeface="Lato"/>
                <a:ea typeface="Lato"/>
                <a:cs typeface="Lato"/>
                <a:sym typeface="Lato"/>
              </a:rPr>
              <a:t>You can toggle these settings at any time to match your learning context.</a:t>
            </a:r>
            <a:endParaRPr lang="en-US" altLang="ja-JP" sz="17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B2EF4D21-DF13-FA64-0383-9A93153CE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47" y="3157499"/>
            <a:ext cx="4284889" cy="32199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29885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B4FB8-7E35-18B7-D8F2-46BEE788D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BF8991-A8A9-2E9B-0E5E-0B46BFCFA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b="1" dirty="0"/>
              <a:t>Usage - configure </a:t>
            </a:r>
            <a:endParaRPr kumimoji="1" lang="ja-JP" altLang="en-US" b="1" dirty="0"/>
          </a:p>
        </p:txBody>
      </p:sp>
      <p:sp>
        <p:nvSpPr>
          <p:cNvPr id="3" name=" 2">
            <a:extLst>
              <a:ext uri="{FF2B5EF4-FFF2-40B4-BE49-F238E27FC236}">
                <a16:creationId xmlns:a16="http://schemas.microsoft.com/office/drawing/2014/main" id="{77E696E7-7F2F-2D5E-4634-5A1AE9C8E883}"/>
              </a:ext>
            </a:extLst>
          </p:cNvPr>
          <p:cNvSpPr>
            <a:spLocks noGrp="1"/>
          </p:cNvSpPr>
          <p:nvPr>
            <p:ph idx="1"/>
          </p:nvPr>
        </p:nvSpPr>
        <p:spPr/>
      </p:sp>
      <p:sp>
        <p:nvSpPr>
          <p:cNvPr id="5" name="Google Shape;158;p18">
            <a:extLst>
              <a:ext uri="{FF2B5EF4-FFF2-40B4-BE49-F238E27FC236}">
                <a16:creationId xmlns:a16="http://schemas.microsoft.com/office/drawing/2014/main" id="{2564E181-C633-5EAC-CFFB-BA4E4DBA2B32}"/>
              </a:ext>
            </a:extLst>
          </p:cNvPr>
          <p:cNvSpPr/>
          <p:nvPr/>
        </p:nvSpPr>
        <p:spPr>
          <a:xfrm>
            <a:off x="571500" y="1823045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7" name="Google Shape;159;p18">
            <a:extLst>
              <a:ext uri="{FF2B5EF4-FFF2-40B4-BE49-F238E27FC236}">
                <a16:creationId xmlns:a16="http://schemas.microsoft.com/office/drawing/2014/main" id="{49087B6B-1109-2F1B-F912-FD0425755A9A}"/>
              </a:ext>
            </a:extLst>
          </p:cNvPr>
          <p:cNvSpPr txBox="1"/>
          <p:nvPr/>
        </p:nvSpPr>
        <p:spPr>
          <a:xfrm>
            <a:off x="3484434" y="1775295"/>
            <a:ext cx="26683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4F46E5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1. Select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Google Shape;160;p18">
            <a:extLst>
              <a:ext uri="{FF2B5EF4-FFF2-40B4-BE49-F238E27FC236}">
                <a16:creationId xmlns:a16="http://schemas.microsoft.com/office/drawing/2014/main" id="{3430694F-B411-438D-DE6F-10714F2B4098}"/>
              </a:ext>
            </a:extLst>
          </p:cNvPr>
          <p:cNvSpPr txBox="1"/>
          <p:nvPr/>
        </p:nvSpPr>
        <p:spPr>
          <a:xfrm>
            <a:off x="3667933" y="1958938"/>
            <a:ext cx="2541240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475569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Chose any Kanji/Hanzi text on any webpage.</a:t>
            </a:r>
            <a:endParaRPr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oogle Shape;161;p18">
            <a:extLst>
              <a:ext uri="{FF2B5EF4-FFF2-40B4-BE49-F238E27FC236}">
                <a16:creationId xmlns:a16="http://schemas.microsoft.com/office/drawing/2014/main" id="{8DAA35ED-CD9A-97C2-1407-D55001ED3627}"/>
              </a:ext>
            </a:extLst>
          </p:cNvPr>
          <p:cNvSpPr txBox="1"/>
          <p:nvPr/>
        </p:nvSpPr>
        <p:spPr>
          <a:xfrm>
            <a:off x="6320354" y="981422"/>
            <a:ext cx="26683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4F46E5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2. Trigger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62;p18">
            <a:extLst>
              <a:ext uri="{FF2B5EF4-FFF2-40B4-BE49-F238E27FC236}">
                <a16:creationId xmlns:a16="http://schemas.microsoft.com/office/drawing/2014/main" id="{DDD257ED-991E-CA23-2BBB-42E650D18E63}"/>
              </a:ext>
            </a:extLst>
          </p:cNvPr>
          <p:cNvSpPr txBox="1"/>
          <p:nvPr/>
        </p:nvSpPr>
        <p:spPr>
          <a:xfrm>
            <a:off x="6551503" y="1283744"/>
            <a:ext cx="3142671" cy="130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>
              <a:spcAft>
                <a:spcPts val="1500"/>
              </a:spcAft>
            </a:pPr>
            <a:r>
              <a:rPr lang="ja-JP" altLang="ja-JP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Hold the </a:t>
            </a:r>
            <a:r>
              <a:rPr lang="ja-JP" altLang="ja-JP" b="1" i="0" dirty="0">
                <a:solidFill>
                  <a:srgbClr val="4F46E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Ctrl Key</a:t>
            </a:r>
            <a:r>
              <a:rPr lang="ja-JP" altLang="ja-JP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on your keyboard.</a:t>
            </a:r>
            <a:r>
              <a:rPr lang="en-US" altLang="ja-JP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altLang="ja-JP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ja-JP" altLang="ja-JP" b="1" i="0" dirty="0">
                <a:solidFill>
                  <a:srgbClr val="4F46E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Select the </a:t>
            </a:r>
            <a:r>
              <a:rPr lang="en-US" altLang="ja-JP" b="1" i="0" dirty="0">
                <a:solidFill>
                  <a:srgbClr val="4F46E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characters </a:t>
            </a:r>
            <a:br>
              <a:rPr lang="en-US" altLang="ja-JP" b="1" i="0" dirty="0">
                <a:solidFill>
                  <a:srgbClr val="4F46E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ja-JP" altLang="ja-JP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with your mouse.</a:t>
            </a:r>
          </a:p>
        </p:txBody>
      </p:sp>
      <p:sp>
        <p:nvSpPr>
          <p:cNvPr id="15" name="Google Shape;163;p18">
            <a:extLst>
              <a:ext uri="{FF2B5EF4-FFF2-40B4-BE49-F238E27FC236}">
                <a16:creationId xmlns:a16="http://schemas.microsoft.com/office/drawing/2014/main" id="{DC814449-584A-0108-215D-28FEB480DDE7}"/>
              </a:ext>
            </a:extLst>
          </p:cNvPr>
          <p:cNvSpPr txBox="1"/>
          <p:nvPr/>
        </p:nvSpPr>
        <p:spPr>
          <a:xfrm>
            <a:off x="9156274" y="1859274"/>
            <a:ext cx="26683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4F46E5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3. View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Google Shape;164;p18">
            <a:extLst>
              <a:ext uri="{FF2B5EF4-FFF2-40B4-BE49-F238E27FC236}">
                <a16:creationId xmlns:a16="http://schemas.microsoft.com/office/drawing/2014/main" id="{A09E69F3-0CAD-BE32-2591-83F0D6E6BF15}"/>
              </a:ext>
            </a:extLst>
          </p:cNvPr>
          <p:cNvSpPr txBox="1"/>
          <p:nvPr/>
        </p:nvSpPr>
        <p:spPr>
          <a:xfrm>
            <a:off x="9332678" y="2084466"/>
            <a:ext cx="2541240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475569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Instantly view phonetic</a:t>
            </a:r>
            <a:br>
              <a:rPr lang="en-US" sz="1700" dirty="0">
                <a:solidFill>
                  <a:srgbClr val="475569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</a:br>
            <a:r>
              <a:rPr lang="en-US" sz="1700" b="0" i="0" u="none" strike="noStrike" cap="none" dirty="0">
                <a:solidFill>
                  <a:srgbClr val="475569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data in a floating panel.</a:t>
            </a:r>
            <a:endParaRPr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Google Shape;165;p18">
            <a:extLst>
              <a:ext uri="{FF2B5EF4-FFF2-40B4-BE49-F238E27FC236}">
                <a16:creationId xmlns:a16="http://schemas.microsoft.com/office/drawing/2014/main" id="{9FD2D094-5620-8D5C-6CBB-1E3E285D4B2A}"/>
              </a:ext>
            </a:extLst>
          </p:cNvPr>
          <p:cNvSpPr txBox="1"/>
          <p:nvPr/>
        </p:nvSpPr>
        <p:spPr>
          <a:xfrm>
            <a:off x="480896" y="1484057"/>
            <a:ext cx="26683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0</a:t>
            </a:r>
            <a:r>
              <a:rPr lang="en-US" sz="2000" b="1" i="0" u="none" strike="noStrike" cap="none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. Configure</a:t>
            </a:r>
            <a:endParaRPr lang="en-US" sz="20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607A9FD-2CCB-427C-16D2-82099951A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29" y="4210272"/>
            <a:ext cx="5400791" cy="2647728"/>
          </a:xfrm>
          <a:prstGeom prst="rect">
            <a:avLst/>
          </a:prstGeom>
        </p:spPr>
      </p:pic>
      <p:sp>
        <p:nvSpPr>
          <p:cNvPr id="10" name="Google Shape;159;p18">
            <a:extLst>
              <a:ext uri="{FF2B5EF4-FFF2-40B4-BE49-F238E27FC236}">
                <a16:creationId xmlns:a16="http://schemas.microsoft.com/office/drawing/2014/main" id="{A74BA6C0-D587-79C5-BE43-42B4035F6790}"/>
              </a:ext>
            </a:extLst>
          </p:cNvPr>
          <p:cNvSpPr txBox="1"/>
          <p:nvPr/>
        </p:nvSpPr>
        <p:spPr>
          <a:xfrm>
            <a:off x="66469" y="4210272"/>
            <a:ext cx="1748578" cy="384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 dirty="0">
                <a:solidFill>
                  <a:srgbClr val="4F46E5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1. Select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B4849A14-1ECD-374B-C2BA-4011801D6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793" y="4558640"/>
            <a:ext cx="6426738" cy="1593499"/>
          </a:xfrm>
          <a:prstGeom prst="rect">
            <a:avLst/>
          </a:prstGeom>
        </p:spPr>
      </p:pic>
      <p:sp>
        <p:nvSpPr>
          <p:cNvPr id="18" name="Google Shape;159;p18">
            <a:extLst>
              <a:ext uri="{FF2B5EF4-FFF2-40B4-BE49-F238E27FC236}">
                <a16:creationId xmlns:a16="http://schemas.microsoft.com/office/drawing/2014/main" id="{9479983D-4809-B118-BD20-914B29CB12C9}"/>
              </a:ext>
            </a:extLst>
          </p:cNvPr>
          <p:cNvSpPr txBox="1"/>
          <p:nvPr/>
        </p:nvSpPr>
        <p:spPr>
          <a:xfrm>
            <a:off x="5677214" y="4210272"/>
            <a:ext cx="4016960" cy="384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4F46E5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2</a:t>
            </a:r>
            <a:r>
              <a:rPr lang="en-US" sz="2500" b="1" i="0" u="none" strike="noStrike" cap="none" dirty="0">
                <a:solidFill>
                  <a:srgbClr val="4F46E5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. Trigger </a:t>
            </a:r>
            <a:r>
              <a:rPr lang="en-US" b="1" i="0" u="none" strike="noStrike" cap="none" dirty="0"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and</a:t>
            </a:r>
            <a:r>
              <a:rPr lang="en-US" sz="2500" b="1" i="0" u="none" strike="noStrike" cap="none" dirty="0">
                <a:solidFill>
                  <a:srgbClr val="4F46E5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 3. View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915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102514-7C21-6A9E-CEC3-EB609297B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b="1" dirty="0"/>
              <a:t>System structure</a:t>
            </a:r>
            <a:endParaRPr kumimoji="1" lang="ja-JP" altLang="en-US" b="1" dirty="0"/>
          </a:p>
        </p:txBody>
      </p:sp>
      <p:sp>
        <p:nvSpPr>
          <p:cNvPr id="3" name=" 2">
            <a:extLst>
              <a:ext uri="{FF2B5EF4-FFF2-40B4-BE49-F238E27FC236}">
                <a16:creationId xmlns:a16="http://schemas.microsoft.com/office/drawing/2014/main" id="{F5EB08B9-C6E3-9D38-7488-45B6D49B33CB}"/>
              </a:ext>
            </a:extLst>
          </p:cNvPr>
          <p:cNvSpPr>
            <a:spLocks noGrp="1"/>
          </p:cNvSpPr>
          <p:nvPr>
            <p:ph idx="1"/>
          </p:nvPr>
        </p:nvSpPr>
        <p:spPr/>
      </p:sp>
      <p:graphicFrame>
        <p:nvGraphicFramePr>
          <p:cNvPr id="12" name="Google Shape;189;p20">
            <a:extLst>
              <a:ext uri="{FF2B5EF4-FFF2-40B4-BE49-F238E27FC236}">
                <a16:creationId xmlns:a16="http://schemas.microsoft.com/office/drawing/2014/main" id="{51B291A9-EDAC-CA32-89CA-3DE0F626E1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5213969"/>
              </p:ext>
            </p:extLst>
          </p:nvPr>
        </p:nvGraphicFramePr>
        <p:xfrm>
          <a:off x="655475" y="1048106"/>
          <a:ext cx="11049000" cy="3048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96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/>
                          <a:cs typeface="Arial" panose="020B0604020202020204" pitchFamily="34" charset="0"/>
                          <a:sym typeface="Lato"/>
                        </a:rPr>
                        <a:t>Module</a:t>
                      </a:r>
                      <a:endParaRPr sz="1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/>
                          <a:cs typeface="Arial" panose="020B0604020202020204" pitchFamily="34" charset="0"/>
                          <a:sym typeface="Lato"/>
                        </a:rPr>
                        <a:t>File</a:t>
                      </a:r>
                      <a:endParaRPr sz="18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/>
                          <a:cs typeface="Arial" panose="020B0604020202020204" pitchFamily="34" charset="0"/>
                          <a:sym typeface="Lato"/>
                        </a:rPr>
                        <a:t>Role</a:t>
                      </a:r>
                      <a:endParaRPr sz="1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/>
                          <a:cs typeface="Arial" panose="020B0604020202020204" pitchFamily="34" charset="0"/>
                          <a:sym typeface="Lato"/>
                        </a:rPr>
                        <a:t>Core Engine</a:t>
                      </a:r>
                      <a:endParaRPr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/>
                          <a:cs typeface="Arial" panose="020B0604020202020204" pitchFamily="34" charset="0"/>
                          <a:sym typeface="Lato"/>
                        </a:rPr>
                        <a:t>content.js</a:t>
                      </a:r>
                      <a:endParaRPr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/>
                          <a:cs typeface="Arial" panose="020B0604020202020204" pitchFamily="34" charset="0"/>
                          <a:sym typeface="Lato"/>
                        </a:rPr>
                        <a:t>Selection tracking, Dictionary lookup, UI Rendering</a:t>
                      </a:r>
                      <a:endParaRPr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/>
                          <a:cs typeface="Arial" panose="020B0604020202020204" pitchFamily="34" charset="0"/>
                          <a:sym typeface="Lato"/>
                        </a:rPr>
                        <a:t>Setting</a:t>
                      </a:r>
                      <a:endParaRPr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/>
                          <a:cs typeface="Arial" panose="020B0604020202020204" pitchFamily="34" charset="0"/>
                          <a:sym typeface="Lato"/>
                        </a:rPr>
                        <a:t>options.js</a:t>
                      </a:r>
                      <a:endParaRPr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/>
                          <a:cs typeface="Arial" panose="020B0604020202020204" pitchFamily="34" charset="0"/>
                          <a:sym typeface="Lato"/>
                        </a:rPr>
                        <a:t>Manages user settings for trilingual display</a:t>
                      </a:r>
                      <a:endParaRPr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/>
                          <a:cs typeface="Arial" panose="020B0604020202020204" pitchFamily="34" charset="0"/>
                          <a:sym typeface="Lato"/>
                        </a:rPr>
                        <a:t>Persistence</a:t>
                      </a:r>
                      <a:endParaRPr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/>
                          <a:cs typeface="Arial" panose="020B0604020202020204" pitchFamily="34" charset="0"/>
                          <a:sym typeface="Lato"/>
                        </a:rPr>
                        <a:t>manifest.js</a:t>
                      </a:r>
                      <a:endParaRPr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Signifies the scripts to be used in each features.</a:t>
                      </a:r>
                      <a:endParaRPr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/>
                          <a:cs typeface="Arial" panose="020B0604020202020204" pitchFamily="34" charset="0"/>
                          <a:sym typeface="Lato"/>
                        </a:rPr>
                        <a:t>Database</a:t>
                      </a:r>
                      <a:endParaRPr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/>
                          <a:cs typeface="Arial" panose="020B0604020202020204" pitchFamily="34" charset="0"/>
                          <a:sym typeface="Lato"/>
                        </a:rPr>
                        <a:t>kanji_data.json</a:t>
                      </a:r>
                      <a:endParaRPr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/>
                          <a:cs typeface="Arial" panose="020B0604020202020204" pitchFamily="34" charset="0"/>
                          <a:sym typeface="Lato"/>
                        </a:rPr>
                        <a:t>Mapped character keys to phonetic values</a:t>
                      </a:r>
                      <a:endParaRPr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89CD475-4CD9-241C-7CA7-4717DA07FCCB}"/>
              </a:ext>
            </a:extLst>
          </p:cNvPr>
          <p:cNvSpPr txBox="1"/>
          <p:nvPr/>
        </p:nvSpPr>
        <p:spPr>
          <a:xfrm>
            <a:off x="655475" y="4301789"/>
            <a:ext cx="9022702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Data are borrowed from following dataset</a:t>
            </a:r>
          </a:p>
          <a:p>
            <a:r>
              <a:rPr lang="en-US" altLang="ja-JP" b="1" dirty="0">
                <a:solidFill>
                  <a:srgbClr val="4F46E5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Unihan reading and variants data</a:t>
            </a:r>
            <a:endParaRPr lang="en-US" altLang="ja-JP" dirty="0"/>
          </a:p>
          <a:p>
            <a:r>
              <a:rPr lang="en-US" altLang="ja-JP" b="1" dirty="0">
                <a:solidFill>
                  <a:srgbClr val="4F46E5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Latest Version</a:t>
            </a:r>
            <a:r>
              <a:rPr lang="en-US" altLang="ja-JP" dirty="0"/>
              <a:t>:</a:t>
            </a:r>
          </a:p>
          <a:p>
            <a:r>
              <a:rPr lang="en-US" altLang="ja-JP" dirty="0">
                <a:hlinkClick r:id="rId2"/>
              </a:rPr>
              <a:t>https://www.unicode.org/Public/UCD/latest/ucd/Unihan.zip</a:t>
            </a:r>
            <a:endParaRPr lang="en-US" altLang="ja-JP" dirty="0"/>
          </a:p>
          <a:p>
            <a:endParaRPr lang="en-US" altLang="ja-JP" sz="500" dirty="0"/>
          </a:p>
          <a:p>
            <a:r>
              <a:rPr lang="en-US" altLang="ja-JP" b="1" dirty="0">
                <a:solidFill>
                  <a:srgbClr val="4F46E5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Version 17.0.0</a:t>
            </a:r>
            <a:r>
              <a:rPr lang="en-US" altLang="ja-JP" dirty="0"/>
              <a:t>:</a:t>
            </a:r>
          </a:p>
          <a:p>
            <a:r>
              <a:rPr lang="en-US" altLang="ja-JP" dirty="0">
                <a:hlinkClick r:id="rId3"/>
              </a:rPr>
              <a:t>https://www.unicode.org/Public/17.0.0/ucd/Unihan.zip</a:t>
            </a:r>
            <a:endParaRPr lang="en-US" altLang="ja-JP" dirty="0"/>
          </a:p>
          <a:p>
            <a:endParaRPr lang="en-US" altLang="ja-JP" sz="500" dirty="0"/>
          </a:p>
          <a:p>
            <a:r>
              <a:rPr lang="en-US" altLang="ja-JP" b="1" dirty="0">
                <a:solidFill>
                  <a:srgbClr val="4F46E5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Explanations</a:t>
            </a:r>
            <a:r>
              <a:rPr lang="en-US" altLang="ja-JP" dirty="0"/>
              <a:t>:</a:t>
            </a:r>
          </a:p>
          <a:p>
            <a:r>
              <a:rPr lang="en-US" altLang="ja-JP" dirty="0"/>
              <a:t>  </a:t>
            </a:r>
            <a:r>
              <a:rPr lang="en-US" altLang="ja-JP" dirty="0">
                <a:hlinkClick r:id="rId4"/>
              </a:rPr>
              <a:t>https://www.unicode.org/reports/tr38/</a:t>
            </a:r>
            <a:endParaRPr lang="en-US" altLang="ja-JP" dirty="0"/>
          </a:p>
          <a:p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77208836"/>
      </p:ext>
    </p:extLst>
  </p:cSld>
  <p:clrMapOvr>
    <a:masterClrMapping/>
  </p:clrMapOvr>
</p:sld>
</file>

<file path=ppt/theme/theme1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</TotalTime>
  <Words>684</Words>
  <Application>Microsoft Office PowerPoint</Application>
  <PresentationFormat>ワイド画面</PresentationFormat>
  <Paragraphs>104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6" baseType="lpstr">
      <vt:lpstr>BIZ UDP明朝 Medium</vt:lpstr>
      <vt:lpstr>Mona Sans VF</vt:lpstr>
      <vt:lpstr>游ゴシック</vt:lpstr>
      <vt:lpstr>游ゴシック Light</vt:lpstr>
      <vt:lpstr>Arial</vt:lpstr>
      <vt:lpstr>Lato</vt:lpstr>
      <vt:lpstr>デザインの設定</vt:lpstr>
      <vt:lpstr>Kanji reader</vt:lpstr>
      <vt:lpstr>Necessity &amp; Objective</vt:lpstr>
      <vt:lpstr>Software Overview</vt:lpstr>
      <vt:lpstr>Install app</vt:lpstr>
      <vt:lpstr>Preparation </vt:lpstr>
      <vt:lpstr>Usage - configure </vt:lpstr>
      <vt:lpstr>Usage - configure </vt:lpstr>
      <vt:lpstr>Usage - configure </vt:lpstr>
      <vt:lpstr>System structure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DAIKI FUJITA</dc:creator>
  <cp:lastModifiedBy>DAIKI FUJITA</cp:lastModifiedBy>
  <cp:revision>56</cp:revision>
  <dcterms:created xsi:type="dcterms:W3CDTF">2026-06-26T14:59:44Z</dcterms:created>
  <dcterms:modified xsi:type="dcterms:W3CDTF">2026-06-26T18:18:05Z</dcterms:modified>
</cp:coreProperties>
</file>